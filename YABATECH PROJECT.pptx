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6" r:id="rId4"/>
    <p:sldId id="267" r:id="rId5"/>
    <p:sldId id="258" r:id="rId6"/>
    <p:sldId id="259" r:id="rId7"/>
    <p:sldId id="260" r:id="rId8"/>
    <p:sldId id="264" r:id="rId9"/>
    <p:sldId id="261" r:id="rId10"/>
    <p:sldId id="262" r:id="rId11"/>
    <p:sldId id="269" r:id="rId12"/>
    <p:sldId id="268" r:id="rId13"/>
    <p:sldId id="263" r:id="rId14"/>
    <p:sldId id="265"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4" autoAdjust="0"/>
    <p:restoredTop sz="94660"/>
  </p:normalViewPr>
  <p:slideViewPr>
    <p:cSldViewPr snapToGrid="0">
      <p:cViewPr varScale="1">
        <p:scale>
          <a:sx n="69" d="100"/>
          <a:sy n="69" d="100"/>
        </p:scale>
        <p:origin x="696"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256BE12-45C6-4B61-83C1-DB83DCE2D498}" type="datetimeFigureOut">
              <a:rPr lang="en-US" smtClean="0"/>
              <a:t>2/14/2026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DE4D954-C90E-4AFF-A671-A8092E554FB2}" type="slidenum">
              <a:rPr lang="en-US" smtClean="0"/>
              <a:t>‹#›</a:t>
            </a:fld>
            <a:endParaRPr lang="en-US" dirty="0"/>
          </a:p>
        </p:txBody>
      </p:sp>
    </p:spTree>
    <p:extLst>
      <p:ext uri="{BB962C8B-B14F-4D97-AF65-F5344CB8AC3E}">
        <p14:creationId xmlns:p14="http://schemas.microsoft.com/office/powerpoint/2010/main" val="1653216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56BE12-45C6-4B61-83C1-DB83DCE2D498}" type="datetimeFigureOut">
              <a:rPr lang="en-US" smtClean="0"/>
              <a:t>2/14/2026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DE4D954-C90E-4AFF-A671-A8092E554FB2}" type="slidenum">
              <a:rPr lang="en-US" smtClean="0"/>
              <a:t>‹#›</a:t>
            </a:fld>
            <a:endParaRPr lang="en-US" dirty="0"/>
          </a:p>
        </p:txBody>
      </p:sp>
    </p:spTree>
    <p:extLst>
      <p:ext uri="{BB962C8B-B14F-4D97-AF65-F5344CB8AC3E}">
        <p14:creationId xmlns:p14="http://schemas.microsoft.com/office/powerpoint/2010/main" val="25276456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256BE12-45C6-4B61-83C1-DB83DCE2D498}" type="datetimeFigureOut">
              <a:rPr lang="en-US" smtClean="0"/>
              <a:t>2/14/2026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DE4D954-C90E-4AFF-A671-A8092E554FB2}" type="slidenum">
              <a:rPr lang="en-US" smtClean="0"/>
              <a:t>‹#›</a:t>
            </a:fld>
            <a:endParaRPr lang="en-US" dirty="0"/>
          </a:p>
        </p:txBody>
      </p:sp>
    </p:spTree>
    <p:extLst>
      <p:ext uri="{BB962C8B-B14F-4D97-AF65-F5344CB8AC3E}">
        <p14:creationId xmlns:p14="http://schemas.microsoft.com/office/powerpoint/2010/main" val="1408239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256BE12-45C6-4B61-83C1-DB83DCE2D498}" type="datetimeFigureOut">
              <a:rPr lang="en-US" smtClean="0"/>
              <a:t>2/14/2026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DE4D954-C90E-4AFF-A671-A8092E554FB2}" type="slidenum">
              <a:rPr lang="en-US" smtClean="0"/>
              <a:t>‹#›</a:t>
            </a:fld>
            <a:endParaRPr lang="en-US" dirty="0"/>
          </a:p>
        </p:txBody>
      </p:sp>
    </p:spTree>
    <p:extLst>
      <p:ext uri="{BB962C8B-B14F-4D97-AF65-F5344CB8AC3E}">
        <p14:creationId xmlns:p14="http://schemas.microsoft.com/office/powerpoint/2010/main" val="25886320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256BE12-45C6-4B61-83C1-DB83DCE2D498}" type="datetimeFigureOut">
              <a:rPr lang="en-US" smtClean="0"/>
              <a:t>2/14/2026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DE4D954-C90E-4AFF-A671-A8092E554FB2}" type="slidenum">
              <a:rPr lang="en-US" smtClean="0"/>
              <a:t>‹#›</a:t>
            </a:fld>
            <a:endParaRPr lang="en-US" dirty="0"/>
          </a:p>
        </p:txBody>
      </p:sp>
    </p:spTree>
    <p:extLst>
      <p:ext uri="{BB962C8B-B14F-4D97-AF65-F5344CB8AC3E}">
        <p14:creationId xmlns:p14="http://schemas.microsoft.com/office/powerpoint/2010/main" val="4285795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256BE12-45C6-4B61-83C1-DB83DCE2D498}" type="datetimeFigureOut">
              <a:rPr lang="en-US" smtClean="0"/>
              <a:t>2/14/2026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DE4D954-C90E-4AFF-A671-A8092E554FB2}" type="slidenum">
              <a:rPr lang="en-US" smtClean="0"/>
              <a:t>‹#›</a:t>
            </a:fld>
            <a:endParaRPr lang="en-US" dirty="0"/>
          </a:p>
        </p:txBody>
      </p:sp>
    </p:spTree>
    <p:extLst>
      <p:ext uri="{BB962C8B-B14F-4D97-AF65-F5344CB8AC3E}">
        <p14:creationId xmlns:p14="http://schemas.microsoft.com/office/powerpoint/2010/main" val="1012603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56BE12-45C6-4B61-83C1-DB83DCE2D498}" type="datetimeFigureOut">
              <a:rPr lang="en-US" smtClean="0"/>
              <a:t>2/14/2026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DE4D954-C90E-4AFF-A671-A8092E554FB2}" type="slidenum">
              <a:rPr lang="en-US" smtClean="0"/>
              <a:t>‹#›</a:t>
            </a:fld>
            <a:endParaRPr lang="en-US" dirty="0"/>
          </a:p>
        </p:txBody>
      </p:sp>
    </p:spTree>
    <p:extLst>
      <p:ext uri="{BB962C8B-B14F-4D97-AF65-F5344CB8AC3E}">
        <p14:creationId xmlns:p14="http://schemas.microsoft.com/office/powerpoint/2010/main" val="2478519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256BE12-45C6-4B61-83C1-DB83DCE2D498}" type="datetimeFigureOut">
              <a:rPr lang="en-US" smtClean="0"/>
              <a:t>2/14/2026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DE4D954-C90E-4AFF-A671-A8092E554FB2}" type="slidenum">
              <a:rPr lang="en-US" smtClean="0"/>
              <a:t>‹#›</a:t>
            </a:fld>
            <a:endParaRPr lang="en-US" dirty="0"/>
          </a:p>
        </p:txBody>
      </p:sp>
    </p:spTree>
    <p:extLst>
      <p:ext uri="{BB962C8B-B14F-4D97-AF65-F5344CB8AC3E}">
        <p14:creationId xmlns:p14="http://schemas.microsoft.com/office/powerpoint/2010/main" val="41270475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256BE12-45C6-4B61-83C1-DB83DCE2D498}" type="datetimeFigureOut">
              <a:rPr lang="en-US" smtClean="0"/>
              <a:t>2/14/2026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DE4D954-C90E-4AFF-A671-A8092E554FB2}" type="slidenum">
              <a:rPr lang="en-US" smtClean="0"/>
              <a:t>‹#›</a:t>
            </a:fld>
            <a:endParaRPr lang="en-US" dirty="0"/>
          </a:p>
        </p:txBody>
      </p:sp>
    </p:spTree>
    <p:extLst>
      <p:ext uri="{BB962C8B-B14F-4D97-AF65-F5344CB8AC3E}">
        <p14:creationId xmlns:p14="http://schemas.microsoft.com/office/powerpoint/2010/main" val="548522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256BE12-45C6-4B61-83C1-DB83DCE2D498}" type="datetimeFigureOut">
              <a:rPr lang="en-US" smtClean="0"/>
              <a:t>2/14/2026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DE4D954-C90E-4AFF-A671-A8092E554FB2}" type="slidenum">
              <a:rPr lang="en-US" smtClean="0"/>
              <a:t>‹#›</a:t>
            </a:fld>
            <a:endParaRPr lang="en-US" dirty="0"/>
          </a:p>
        </p:txBody>
      </p:sp>
    </p:spTree>
    <p:extLst>
      <p:ext uri="{BB962C8B-B14F-4D97-AF65-F5344CB8AC3E}">
        <p14:creationId xmlns:p14="http://schemas.microsoft.com/office/powerpoint/2010/main" val="28058496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256BE12-45C6-4B61-83C1-DB83DCE2D498}" type="datetimeFigureOut">
              <a:rPr lang="en-US" smtClean="0"/>
              <a:t>2/14/2026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DE4D954-C90E-4AFF-A671-A8092E554FB2}" type="slidenum">
              <a:rPr lang="en-US" smtClean="0"/>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5903295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256BE12-45C6-4B61-83C1-DB83DCE2D498}" type="datetimeFigureOut">
              <a:rPr lang="en-US" smtClean="0"/>
              <a:t>2/14/2026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DE4D954-C90E-4AFF-A671-A8092E554FB2}" type="slidenum">
              <a:rPr lang="en-US" smtClean="0"/>
              <a:t>‹#›</a:t>
            </a:fld>
            <a:endParaRPr lang="en-US" dirty="0"/>
          </a:p>
        </p:txBody>
      </p:sp>
    </p:spTree>
    <p:extLst>
      <p:ext uri="{BB962C8B-B14F-4D97-AF65-F5344CB8AC3E}">
        <p14:creationId xmlns:p14="http://schemas.microsoft.com/office/powerpoint/2010/main" val="11601749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256BE12-45C6-4B61-83C1-DB83DCE2D498}" type="datetimeFigureOut">
              <a:rPr lang="en-US" smtClean="0"/>
              <a:t>2/14/2026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DE4D954-C90E-4AFF-A671-A8092E554FB2}" type="slidenum">
              <a:rPr lang="en-US" smtClean="0"/>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0310859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256BE12-45C6-4B61-83C1-DB83DCE2D498}" type="datetimeFigureOut">
              <a:rPr lang="en-US" smtClean="0"/>
              <a:t>2/14/2026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DE4D954-C90E-4AFF-A671-A8092E554FB2}" type="slidenum">
              <a:rPr lang="en-US" smtClean="0"/>
              <a:t>‹#›</a:t>
            </a:fld>
            <a:endParaRPr lang="en-US" dirty="0"/>
          </a:p>
        </p:txBody>
      </p:sp>
    </p:spTree>
    <p:extLst>
      <p:ext uri="{BB962C8B-B14F-4D97-AF65-F5344CB8AC3E}">
        <p14:creationId xmlns:p14="http://schemas.microsoft.com/office/powerpoint/2010/main" val="39012682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56BE12-45C6-4B61-83C1-DB83DCE2D498}" type="datetimeFigureOut">
              <a:rPr lang="en-US" smtClean="0"/>
              <a:t>2/14/2026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DE4D954-C90E-4AFF-A671-A8092E554FB2}" type="slidenum">
              <a:rPr lang="en-US" smtClean="0"/>
              <a:t>‹#›</a:t>
            </a:fld>
            <a:endParaRPr lang="en-US" dirty="0"/>
          </a:p>
        </p:txBody>
      </p:sp>
    </p:spTree>
    <p:extLst>
      <p:ext uri="{BB962C8B-B14F-4D97-AF65-F5344CB8AC3E}">
        <p14:creationId xmlns:p14="http://schemas.microsoft.com/office/powerpoint/2010/main" val="40979724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56BE12-45C6-4B61-83C1-DB83DCE2D498}" type="datetimeFigureOut">
              <a:rPr lang="en-US" smtClean="0"/>
              <a:t>2/14/2026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DE4D954-C90E-4AFF-A671-A8092E554FB2}" type="slidenum">
              <a:rPr lang="en-US" smtClean="0"/>
              <a:t>‹#›</a:t>
            </a:fld>
            <a:endParaRPr lang="en-US" dirty="0"/>
          </a:p>
        </p:txBody>
      </p:sp>
    </p:spTree>
    <p:extLst>
      <p:ext uri="{BB962C8B-B14F-4D97-AF65-F5344CB8AC3E}">
        <p14:creationId xmlns:p14="http://schemas.microsoft.com/office/powerpoint/2010/main" val="40766056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256BE12-45C6-4B61-83C1-DB83DCE2D498}" type="datetimeFigureOut">
              <a:rPr lang="en-US" smtClean="0"/>
              <a:t>2/14/2026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DE4D954-C90E-4AFF-A671-A8092E554FB2}" type="slidenum">
              <a:rPr lang="en-US" smtClean="0"/>
              <a:t>‹#›</a:t>
            </a:fld>
            <a:endParaRPr lang="en-US" dirty="0"/>
          </a:p>
        </p:txBody>
      </p:sp>
    </p:spTree>
    <p:extLst>
      <p:ext uri="{BB962C8B-B14F-4D97-AF65-F5344CB8AC3E}">
        <p14:creationId xmlns:p14="http://schemas.microsoft.com/office/powerpoint/2010/main" val="29111335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75D256B-EB7B-4286-BBB6-EC66943162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1152" y="208006"/>
            <a:ext cx="3850894" cy="3263712"/>
          </a:xfrm>
          <a:prstGeom prst="rect">
            <a:avLst/>
          </a:prstGeom>
        </p:spPr>
      </p:pic>
      <p:sp>
        <p:nvSpPr>
          <p:cNvPr id="6" name="TextBox 5">
            <a:extLst>
              <a:ext uri="{FF2B5EF4-FFF2-40B4-BE49-F238E27FC236}">
                <a16:creationId xmlns:a16="http://schemas.microsoft.com/office/drawing/2014/main" id="{43F2FB50-9D00-4C36-9591-EAB10A8EBD9F}"/>
              </a:ext>
            </a:extLst>
          </p:cNvPr>
          <p:cNvSpPr txBox="1"/>
          <p:nvPr/>
        </p:nvSpPr>
        <p:spPr>
          <a:xfrm>
            <a:off x="939475" y="3671773"/>
            <a:ext cx="8941502" cy="707886"/>
          </a:xfrm>
          <a:prstGeom prst="rect">
            <a:avLst/>
          </a:prstGeom>
          <a:noFill/>
        </p:spPr>
        <p:txBody>
          <a:bodyPr wrap="square" rtlCol="0">
            <a:spAutoFit/>
          </a:bodyPr>
          <a:lstStyle/>
          <a:p>
            <a:pPr algn="ctr"/>
            <a:r>
              <a:rPr lang="en-US" sz="2000" b="1" dirty="0">
                <a:latin typeface="Arial" panose="020B0604020202020204" pitchFamily="34" charset="0"/>
                <a:cs typeface="Arial" panose="020B0604020202020204" pitchFamily="34" charset="0"/>
              </a:rPr>
              <a:t>YABA COLLEGE OF TECHNOLOGY STUDENTS INSIGHT FOR THE YEAR 2017-2023</a:t>
            </a:r>
          </a:p>
        </p:txBody>
      </p:sp>
      <p:sp>
        <p:nvSpPr>
          <p:cNvPr id="7" name="TextBox 6">
            <a:extLst>
              <a:ext uri="{FF2B5EF4-FFF2-40B4-BE49-F238E27FC236}">
                <a16:creationId xmlns:a16="http://schemas.microsoft.com/office/drawing/2014/main" id="{820A9242-74BD-4D6E-8EC8-FD7CF237CD82}"/>
              </a:ext>
            </a:extLst>
          </p:cNvPr>
          <p:cNvSpPr txBox="1"/>
          <p:nvPr/>
        </p:nvSpPr>
        <p:spPr>
          <a:xfrm>
            <a:off x="389965" y="4652256"/>
            <a:ext cx="4026090" cy="400110"/>
          </a:xfrm>
          <a:prstGeom prst="rect">
            <a:avLst/>
          </a:prstGeom>
          <a:noFill/>
        </p:spPr>
        <p:txBody>
          <a:bodyPr wrap="square" rtlCol="0">
            <a:spAutoFit/>
          </a:bodyPr>
          <a:lstStyle/>
          <a:p>
            <a:pPr algn="ctr"/>
            <a:r>
              <a:rPr lang="en-US" sz="2000" b="1" dirty="0">
                <a:solidFill>
                  <a:schemeClr val="accent4">
                    <a:lumMod val="75000"/>
                  </a:schemeClr>
                </a:solidFill>
                <a:latin typeface="Arial" panose="020B0604020202020204" pitchFamily="34" charset="0"/>
                <a:cs typeface="Arial" panose="020B0604020202020204" pitchFamily="34" charset="0"/>
              </a:rPr>
              <a:t>HIGHER INSTITUTION SECTOR</a:t>
            </a:r>
          </a:p>
        </p:txBody>
      </p:sp>
      <p:sp>
        <p:nvSpPr>
          <p:cNvPr id="8" name="TextBox 7">
            <a:extLst>
              <a:ext uri="{FF2B5EF4-FFF2-40B4-BE49-F238E27FC236}">
                <a16:creationId xmlns:a16="http://schemas.microsoft.com/office/drawing/2014/main" id="{0B4E43F4-3CD1-40AF-B58F-B4231C401656}"/>
              </a:ext>
            </a:extLst>
          </p:cNvPr>
          <p:cNvSpPr txBox="1"/>
          <p:nvPr/>
        </p:nvSpPr>
        <p:spPr>
          <a:xfrm>
            <a:off x="175201" y="5052366"/>
            <a:ext cx="5243964" cy="707886"/>
          </a:xfrm>
          <a:prstGeom prst="rect">
            <a:avLst/>
          </a:prstGeom>
          <a:noFill/>
        </p:spPr>
        <p:txBody>
          <a:bodyPr wrap="square" rtlCol="0">
            <a:spAutoFit/>
          </a:bodyPr>
          <a:lstStyle/>
          <a:p>
            <a:pPr algn="ctr"/>
            <a:r>
              <a:rPr lang="en-US" sz="2000" b="1" dirty="0">
                <a:solidFill>
                  <a:schemeClr val="accent4">
                    <a:lumMod val="75000"/>
                  </a:schemeClr>
                </a:solidFill>
                <a:latin typeface="Arial" panose="020B0604020202020204" pitchFamily="34" charset="0"/>
                <a:cs typeface="Arial" panose="020B0604020202020204" pitchFamily="34" charset="0"/>
              </a:rPr>
              <a:t>PRESENTED BY:</a:t>
            </a:r>
            <a:r>
              <a:rPr lang="en-US" sz="2000" b="1" dirty="0">
                <a:latin typeface="Arial" panose="020B0604020202020204" pitchFamily="34" charset="0"/>
                <a:cs typeface="Arial" panose="020B0604020202020204" pitchFamily="34" charset="0"/>
              </a:rPr>
              <a:t> Data analytics group</a:t>
            </a:r>
          </a:p>
          <a:p>
            <a:pPr algn="ctr"/>
            <a:endParaRPr lang="en-US" sz="2000" b="1" dirty="0">
              <a:solidFill>
                <a:schemeClr val="accent4">
                  <a:lumMod val="75000"/>
                </a:schemeClr>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F8533160-B2B9-46B6-8CA6-63F5191AA083}"/>
              </a:ext>
            </a:extLst>
          </p:cNvPr>
          <p:cNvSpPr txBox="1"/>
          <p:nvPr/>
        </p:nvSpPr>
        <p:spPr>
          <a:xfrm>
            <a:off x="0" y="6292602"/>
            <a:ext cx="3460722" cy="400110"/>
          </a:xfrm>
          <a:prstGeom prst="rect">
            <a:avLst/>
          </a:prstGeom>
          <a:noFill/>
        </p:spPr>
        <p:txBody>
          <a:bodyPr wrap="square" rtlCol="0">
            <a:spAutoFit/>
          </a:bodyPr>
          <a:lstStyle/>
          <a:p>
            <a:pPr algn="ctr"/>
            <a:r>
              <a:rPr lang="en-US" sz="2000" b="1" dirty="0">
                <a:solidFill>
                  <a:schemeClr val="accent4">
                    <a:lumMod val="75000"/>
                  </a:schemeClr>
                </a:solidFill>
                <a:latin typeface="Arial" panose="020B0604020202020204" pitchFamily="34" charset="0"/>
                <a:cs typeface="Arial" panose="020B0604020202020204" pitchFamily="34" charset="0"/>
              </a:rPr>
              <a:t>DATE: AUGUST, 2025</a:t>
            </a:r>
            <a:r>
              <a:rPr lang="en-US" sz="2000" b="1" dirty="0">
                <a:solidFill>
                  <a:schemeClr val="tx1">
                    <a:lumMod val="95000"/>
                    <a:lumOff val="5000"/>
                  </a:schemeClr>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4688399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8794B44-DD0A-4C68-94C9-1C927B13B099}"/>
              </a:ext>
            </a:extLst>
          </p:cNvPr>
          <p:cNvSpPr txBox="1"/>
          <p:nvPr/>
        </p:nvSpPr>
        <p:spPr>
          <a:xfrm>
            <a:off x="136478" y="153122"/>
            <a:ext cx="3316406" cy="461665"/>
          </a:xfrm>
          <a:prstGeom prst="rect">
            <a:avLst/>
          </a:prstGeom>
          <a:noFill/>
        </p:spPr>
        <p:txBody>
          <a:bodyPr wrap="square" rtlCol="0">
            <a:spAutoFit/>
          </a:bodyPr>
          <a:lstStyle/>
          <a:p>
            <a:r>
              <a:rPr lang="en-US" sz="2400" b="1" dirty="0">
                <a:solidFill>
                  <a:schemeClr val="accent4">
                    <a:lumMod val="75000"/>
                  </a:schemeClr>
                </a:solidFill>
              </a:rPr>
              <a:t>OBJECTIVE:</a:t>
            </a:r>
          </a:p>
        </p:txBody>
      </p:sp>
      <p:sp>
        <p:nvSpPr>
          <p:cNvPr id="5" name="TextBox 4">
            <a:extLst>
              <a:ext uri="{FF2B5EF4-FFF2-40B4-BE49-F238E27FC236}">
                <a16:creationId xmlns:a16="http://schemas.microsoft.com/office/drawing/2014/main" id="{C46690EF-08B8-4ACD-8894-07644C9DC82D}"/>
              </a:ext>
            </a:extLst>
          </p:cNvPr>
          <p:cNvSpPr txBox="1"/>
          <p:nvPr/>
        </p:nvSpPr>
        <p:spPr>
          <a:xfrm>
            <a:off x="0" y="700446"/>
            <a:ext cx="8738582" cy="1938992"/>
          </a:xfrm>
          <a:prstGeom prst="rect">
            <a:avLst/>
          </a:prstGeom>
          <a:noFill/>
        </p:spPr>
        <p:txBody>
          <a:bodyPr wrap="square" rtlCol="0">
            <a:spAutoFit/>
          </a:bodyPr>
          <a:lstStyle/>
          <a:p>
            <a:r>
              <a:rPr lang="en-US" sz="2400" dirty="0">
                <a:solidFill>
                  <a:schemeClr val="tx1">
                    <a:lumMod val="95000"/>
                    <a:lumOff val="5000"/>
                  </a:schemeClr>
                </a:solidFill>
              </a:rPr>
              <a:t>This report provides a comprehensive overview of student academic performance, admission trends, and graduation outcomes for </a:t>
            </a:r>
            <a:r>
              <a:rPr lang="en-US" sz="2400" dirty="0" err="1">
                <a:solidFill>
                  <a:schemeClr val="tx1">
                    <a:lumMod val="95000"/>
                    <a:lumOff val="5000"/>
                  </a:schemeClr>
                </a:solidFill>
              </a:rPr>
              <a:t>Yabatech</a:t>
            </a:r>
            <a:r>
              <a:rPr lang="en-US" sz="2400" dirty="0">
                <a:solidFill>
                  <a:schemeClr val="tx1">
                    <a:lumMod val="95000"/>
                    <a:lumOff val="5000"/>
                  </a:schemeClr>
                </a:solidFill>
              </a:rPr>
              <a:t> over the period 2017-2023.</a:t>
            </a:r>
          </a:p>
          <a:p>
            <a:r>
              <a:rPr lang="en-US" sz="2400" dirty="0">
                <a:solidFill>
                  <a:schemeClr val="tx1">
                    <a:lumMod val="95000"/>
                    <a:lumOff val="5000"/>
                  </a:schemeClr>
                </a:solidFill>
              </a:rPr>
              <a:t>The goal is to equip decision-makers with clear insights for strategic academic and institutional growth.</a:t>
            </a:r>
          </a:p>
        </p:txBody>
      </p:sp>
      <p:sp>
        <p:nvSpPr>
          <p:cNvPr id="6" name="TextBox 5">
            <a:extLst>
              <a:ext uri="{FF2B5EF4-FFF2-40B4-BE49-F238E27FC236}">
                <a16:creationId xmlns:a16="http://schemas.microsoft.com/office/drawing/2014/main" id="{C2E56F66-CD01-411B-A8FE-E6AE4DCB152D}"/>
              </a:ext>
            </a:extLst>
          </p:cNvPr>
          <p:cNvSpPr txBox="1"/>
          <p:nvPr/>
        </p:nvSpPr>
        <p:spPr>
          <a:xfrm>
            <a:off x="326744" y="4124022"/>
            <a:ext cx="7902855" cy="2677656"/>
          </a:xfrm>
          <a:prstGeom prst="rect">
            <a:avLst/>
          </a:prstGeom>
          <a:noFill/>
        </p:spPr>
        <p:txBody>
          <a:bodyPr wrap="square" rtlCol="0">
            <a:spAutoFit/>
          </a:bodyPr>
          <a:lstStyle/>
          <a:p>
            <a:pPr marL="285750" indent="-285750">
              <a:buFont typeface="Arial" panose="020B0604020202020204" pitchFamily="34" charset="0"/>
              <a:buChar char="•"/>
            </a:pPr>
            <a:r>
              <a:rPr lang="en-US" sz="2400" dirty="0">
                <a:solidFill>
                  <a:schemeClr val="tx1">
                    <a:lumMod val="95000"/>
                    <a:lumOff val="5000"/>
                  </a:schemeClr>
                </a:solidFill>
              </a:rPr>
              <a:t>How many students were admitted and graduated between 2017-2023?</a:t>
            </a:r>
          </a:p>
          <a:p>
            <a:pPr marL="285750" indent="-285750">
              <a:buFont typeface="Arial" panose="020B0604020202020204" pitchFamily="34" charset="0"/>
              <a:buChar char="•"/>
            </a:pPr>
            <a:r>
              <a:rPr lang="en-US" sz="2400" dirty="0">
                <a:solidFill>
                  <a:schemeClr val="tx1">
                    <a:lumMod val="95000"/>
                    <a:lumOff val="5000"/>
                  </a:schemeClr>
                </a:solidFill>
              </a:rPr>
              <a:t>What is the average CGPA across all students?</a:t>
            </a:r>
          </a:p>
          <a:p>
            <a:pPr marL="285750" indent="-285750">
              <a:buFont typeface="Arial" panose="020B0604020202020204" pitchFamily="34" charset="0"/>
              <a:buChar char="•"/>
            </a:pPr>
            <a:r>
              <a:rPr lang="en-US" sz="2400" dirty="0">
                <a:solidFill>
                  <a:schemeClr val="tx1">
                    <a:lumMod val="95000"/>
                    <a:lumOff val="5000"/>
                  </a:schemeClr>
                </a:solidFill>
              </a:rPr>
              <a:t>What is the overall graduation rate?</a:t>
            </a:r>
          </a:p>
          <a:p>
            <a:pPr marL="285750" indent="-285750">
              <a:buFont typeface="Arial" panose="020B0604020202020204" pitchFamily="34" charset="0"/>
              <a:buChar char="•"/>
            </a:pPr>
            <a:r>
              <a:rPr lang="en-US" sz="2400" dirty="0">
                <a:solidFill>
                  <a:schemeClr val="tx1">
                    <a:lumMod val="95000"/>
                    <a:lumOff val="5000"/>
                  </a:schemeClr>
                </a:solidFill>
              </a:rPr>
              <a:t>What are the admission trends?</a:t>
            </a:r>
          </a:p>
          <a:p>
            <a:pPr marL="285750" indent="-285750">
              <a:buFont typeface="Arial" panose="020B0604020202020204" pitchFamily="34" charset="0"/>
              <a:buChar char="•"/>
            </a:pPr>
            <a:r>
              <a:rPr lang="en-US" sz="2400" dirty="0">
                <a:solidFill>
                  <a:schemeClr val="tx1">
                    <a:lumMod val="95000"/>
                    <a:lumOff val="5000"/>
                  </a:schemeClr>
                </a:solidFill>
              </a:rPr>
              <a:t>Which departments have the highest or lowest graduation rates?</a:t>
            </a:r>
          </a:p>
        </p:txBody>
      </p:sp>
      <p:sp>
        <p:nvSpPr>
          <p:cNvPr id="7" name="TextBox 6">
            <a:extLst>
              <a:ext uri="{FF2B5EF4-FFF2-40B4-BE49-F238E27FC236}">
                <a16:creationId xmlns:a16="http://schemas.microsoft.com/office/drawing/2014/main" id="{02A9C77F-5BB1-47FD-B043-8648A41089E3}"/>
              </a:ext>
            </a:extLst>
          </p:cNvPr>
          <p:cNvSpPr txBox="1"/>
          <p:nvPr/>
        </p:nvSpPr>
        <p:spPr>
          <a:xfrm>
            <a:off x="326745" y="3662357"/>
            <a:ext cx="5377218" cy="461665"/>
          </a:xfrm>
          <a:prstGeom prst="rect">
            <a:avLst/>
          </a:prstGeom>
          <a:noFill/>
        </p:spPr>
        <p:txBody>
          <a:bodyPr wrap="square" rtlCol="0">
            <a:spAutoFit/>
          </a:bodyPr>
          <a:lstStyle/>
          <a:p>
            <a:r>
              <a:rPr lang="en-US" sz="2400" b="1" dirty="0">
                <a:solidFill>
                  <a:schemeClr val="accent4">
                    <a:lumMod val="75000"/>
                  </a:schemeClr>
                </a:solidFill>
              </a:rPr>
              <a:t>KEY QUESTONS ANSWERED</a:t>
            </a:r>
            <a:r>
              <a:rPr lang="en-US" sz="2400" b="1" dirty="0">
                <a:solidFill>
                  <a:srgbClr val="FF0000"/>
                </a:solidFill>
              </a:rPr>
              <a:t>:</a:t>
            </a:r>
          </a:p>
        </p:txBody>
      </p:sp>
    </p:spTree>
    <p:extLst>
      <p:ext uri="{BB962C8B-B14F-4D97-AF65-F5344CB8AC3E}">
        <p14:creationId xmlns:p14="http://schemas.microsoft.com/office/powerpoint/2010/main" val="667483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E0F520E-6C5D-402C-A1F3-B7A1A34A66B7}"/>
              </a:ext>
            </a:extLst>
          </p:cNvPr>
          <p:cNvSpPr txBox="1"/>
          <p:nvPr/>
        </p:nvSpPr>
        <p:spPr>
          <a:xfrm>
            <a:off x="1990164" y="350405"/>
            <a:ext cx="5617861" cy="461665"/>
          </a:xfrm>
          <a:prstGeom prst="rect">
            <a:avLst/>
          </a:prstGeom>
          <a:noFill/>
        </p:spPr>
        <p:txBody>
          <a:bodyPr wrap="square" rtlCol="0">
            <a:spAutoFit/>
          </a:bodyPr>
          <a:lstStyle/>
          <a:p>
            <a:r>
              <a:rPr lang="en-US" sz="2400" b="1" dirty="0">
                <a:solidFill>
                  <a:schemeClr val="accent4">
                    <a:lumMod val="75000"/>
                  </a:schemeClr>
                </a:solidFill>
              </a:rPr>
              <a:t>ADMISSION SEMI-STRUCTURED DATA</a:t>
            </a:r>
          </a:p>
        </p:txBody>
      </p:sp>
      <p:pic>
        <p:nvPicPr>
          <p:cNvPr id="5" name="Picture 4">
            <a:extLst>
              <a:ext uri="{FF2B5EF4-FFF2-40B4-BE49-F238E27FC236}">
                <a16:creationId xmlns:a16="http://schemas.microsoft.com/office/drawing/2014/main" id="{BA33415D-6739-4F43-8831-CC0A2E8043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176" y="1031357"/>
            <a:ext cx="8996083" cy="4699592"/>
          </a:xfrm>
          <a:prstGeom prst="rect">
            <a:avLst/>
          </a:prstGeom>
        </p:spPr>
      </p:pic>
    </p:spTree>
    <p:extLst>
      <p:ext uri="{BB962C8B-B14F-4D97-AF65-F5344CB8AC3E}">
        <p14:creationId xmlns:p14="http://schemas.microsoft.com/office/powerpoint/2010/main" val="18986739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C2B39C8-EAC2-43C2-89BF-DD58EE257EFE}"/>
              </a:ext>
            </a:extLst>
          </p:cNvPr>
          <p:cNvSpPr txBox="1"/>
          <p:nvPr/>
        </p:nvSpPr>
        <p:spPr>
          <a:xfrm>
            <a:off x="2097741" y="298042"/>
            <a:ext cx="6871447" cy="461665"/>
          </a:xfrm>
          <a:prstGeom prst="rect">
            <a:avLst/>
          </a:prstGeom>
          <a:noFill/>
        </p:spPr>
        <p:txBody>
          <a:bodyPr wrap="square" rtlCol="0">
            <a:spAutoFit/>
          </a:bodyPr>
          <a:lstStyle/>
          <a:p>
            <a:r>
              <a:rPr lang="en-US" sz="2400" b="1" dirty="0">
                <a:solidFill>
                  <a:schemeClr val="accent4">
                    <a:lumMod val="75000"/>
                  </a:schemeClr>
                </a:solidFill>
              </a:rPr>
              <a:t>GRADUATION SEMI- STRUCTURED DATA</a:t>
            </a:r>
          </a:p>
        </p:txBody>
      </p:sp>
      <p:pic>
        <p:nvPicPr>
          <p:cNvPr id="10" name="Picture 9">
            <a:extLst>
              <a:ext uri="{FF2B5EF4-FFF2-40B4-BE49-F238E27FC236}">
                <a16:creationId xmlns:a16="http://schemas.microsoft.com/office/drawing/2014/main" id="{8AC1A298-61FD-49B5-94F5-DF1730AEDE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931" y="935665"/>
            <a:ext cx="9157447" cy="4612341"/>
          </a:xfrm>
          <a:prstGeom prst="rect">
            <a:avLst/>
          </a:prstGeom>
        </p:spPr>
      </p:pic>
    </p:spTree>
    <p:extLst>
      <p:ext uri="{BB962C8B-B14F-4D97-AF65-F5344CB8AC3E}">
        <p14:creationId xmlns:p14="http://schemas.microsoft.com/office/powerpoint/2010/main" val="10361679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952C7F8-3DCC-4D5D-9429-C883D0A1EBF6}"/>
              </a:ext>
            </a:extLst>
          </p:cNvPr>
          <p:cNvSpPr txBox="1"/>
          <p:nvPr/>
        </p:nvSpPr>
        <p:spPr>
          <a:xfrm>
            <a:off x="191069" y="5953835"/>
            <a:ext cx="3548418" cy="830997"/>
          </a:xfrm>
          <a:prstGeom prst="rect">
            <a:avLst/>
          </a:prstGeom>
          <a:noFill/>
        </p:spPr>
        <p:txBody>
          <a:bodyPr wrap="square" rtlCol="0">
            <a:spAutoFit/>
          </a:bodyPr>
          <a:lstStyle/>
          <a:p>
            <a:pPr algn="ctr"/>
            <a:r>
              <a:rPr lang="en-US" sz="2400" b="1" dirty="0">
                <a:solidFill>
                  <a:schemeClr val="accent4">
                    <a:lumMod val="75000"/>
                  </a:schemeClr>
                </a:solidFill>
                <a:latin typeface="Arial" panose="020B0604020202020204" pitchFamily="34" charset="0"/>
                <a:cs typeface="Arial" panose="020B0604020202020204" pitchFamily="34" charset="0"/>
              </a:rPr>
              <a:t>PERIOD COVERED: </a:t>
            </a:r>
            <a:r>
              <a:rPr lang="en-US" sz="2400" b="1" dirty="0">
                <a:latin typeface="Arial" panose="020B0604020202020204" pitchFamily="34" charset="0"/>
                <a:cs typeface="Arial" panose="020B0604020202020204" pitchFamily="34" charset="0"/>
              </a:rPr>
              <a:t>2017-2023</a:t>
            </a:r>
            <a:endParaRPr lang="en-US" sz="2400" b="1" dirty="0">
              <a:solidFill>
                <a:schemeClr val="accent4">
                  <a:lumMod val="75000"/>
                </a:schemeClr>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4EE98EB9-A4A2-4A56-BBD4-C474331B82A3}"/>
              </a:ext>
            </a:extLst>
          </p:cNvPr>
          <p:cNvSpPr txBox="1"/>
          <p:nvPr/>
        </p:nvSpPr>
        <p:spPr>
          <a:xfrm>
            <a:off x="392775" y="2459504"/>
            <a:ext cx="9084832" cy="2554545"/>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DATA SOURCES</a:t>
            </a:r>
            <a:r>
              <a:rPr lang="en-US" sz="2000" dirty="0">
                <a:solidFill>
                  <a:schemeClr val="tx1">
                    <a:lumMod val="95000"/>
                    <a:lumOff val="5000"/>
                  </a:schemeClr>
                </a:solidFill>
                <a:latin typeface="Arial" panose="020B0604020202020204" pitchFamily="34" charset="0"/>
                <a:cs typeface="Arial" panose="020B0604020202020204" pitchFamily="34" charset="0"/>
              </a:rPr>
              <a:t>:  synthetic </a:t>
            </a:r>
            <a:r>
              <a:rPr lang="en-US" sz="2000" dirty="0" err="1">
                <a:solidFill>
                  <a:schemeClr val="tx1">
                    <a:lumMod val="95000"/>
                    <a:lumOff val="5000"/>
                  </a:schemeClr>
                </a:solidFill>
                <a:latin typeface="Arial" panose="020B0604020202020204" pitchFamily="34" charset="0"/>
                <a:cs typeface="Arial" panose="020B0604020202020204" pitchFamily="34" charset="0"/>
              </a:rPr>
              <a:t>Yabatech</a:t>
            </a:r>
            <a:r>
              <a:rPr lang="en-US" sz="2000" dirty="0">
                <a:solidFill>
                  <a:schemeClr val="tx1">
                    <a:lumMod val="95000"/>
                    <a:lumOff val="5000"/>
                  </a:schemeClr>
                </a:solidFill>
                <a:latin typeface="Arial" panose="020B0604020202020204" pitchFamily="34" charset="0"/>
                <a:cs typeface="Arial" panose="020B0604020202020204" pitchFamily="34" charset="0"/>
              </a:rPr>
              <a:t> datasets (csv file)</a:t>
            </a:r>
          </a:p>
          <a:p>
            <a:endParaRPr lang="en-US" sz="2000" dirty="0">
              <a:solidFill>
                <a:schemeClr val="tx1">
                  <a:lumMod val="95000"/>
                  <a:lumOff val="5000"/>
                </a:schemeClr>
              </a:solidFill>
              <a:latin typeface="Arial" panose="020B0604020202020204" pitchFamily="34" charset="0"/>
              <a:cs typeface="Arial" panose="020B0604020202020204" pitchFamily="34" charset="0"/>
            </a:endParaRPr>
          </a:p>
          <a:p>
            <a:r>
              <a:rPr lang="en-US" sz="2000" b="1" dirty="0">
                <a:latin typeface="Arial" panose="020B0604020202020204" pitchFamily="34" charset="0"/>
                <a:cs typeface="Arial" panose="020B0604020202020204" pitchFamily="34" charset="0"/>
              </a:rPr>
              <a:t>DATA TYPE</a:t>
            </a:r>
            <a:r>
              <a:rPr lang="en-US" sz="2000" dirty="0">
                <a:latin typeface="Arial" panose="020B0604020202020204" pitchFamily="34" charset="0"/>
                <a:cs typeface="Arial" panose="020B0604020202020204" pitchFamily="34" charset="0"/>
              </a:rPr>
              <a:t>:</a:t>
            </a:r>
            <a:r>
              <a:rPr lang="en-US" sz="2000" dirty="0">
                <a:solidFill>
                  <a:schemeClr val="accent4">
                    <a:lumMod val="75000"/>
                  </a:schemeClr>
                </a:solidFill>
                <a:latin typeface="Arial" panose="020B0604020202020204" pitchFamily="34" charset="0"/>
                <a:cs typeface="Arial" panose="020B0604020202020204" pitchFamily="34" charset="0"/>
              </a:rPr>
              <a:t> </a:t>
            </a:r>
            <a:r>
              <a:rPr lang="en-US" sz="2000" dirty="0">
                <a:solidFill>
                  <a:schemeClr val="tx1">
                    <a:lumMod val="95000"/>
                    <a:lumOff val="5000"/>
                  </a:schemeClr>
                </a:solidFill>
                <a:latin typeface="Arial" panose="020B0604020202020204" pitchFamily="34" charset="0"/>
                <a:cs typeface="Arial" panose="020B0604020202020204" pitchFamily="34" charset="0"/>
              </a:rPr>
              <a:t>Semi-structured data</a:t>
            </a:r>
          </a:p>
          <a:p>
            <a:endParaRPr lang="en-US" sz="2000" dirty="0">
              <a:solidFill>
                <a:schemeClr val="tx1">
                  <a:lumMod val="95000"/>
                  <a:lumOff val="5000"/>
                </a:schemeClr>
              </a:solidFill>
              <a:latin typeface="Arial" panose="020B0604020202020204" pitchFamily="34" charset="0"/>
              <a:cs typeface="Arial" panose="020B0604020202020204" pitchFamily="34" charset="0"/>
            </a:endParaRPr>
          </a:p>
          <a:p>
            <a:r>
              <a:rPr lang="en-US" sz="2000" b="1" dirty="0">
                <a:solidFill>
                  <a:schemeClr val="tx1">
                    <a:lumMod val="95000"/>
                    <a:lumOff val="5000"/>
                  </a:schemeClr>
                </a:solidFill>
                <a:latin typeface="Arial" panose="020B0604020202020204" pitchFamily="34" charset="0"/>
                <a:cs typeface="Arial" panose="020B0604020202020204" pitchFamily="34" charset="0"/>
              </a:rPr>
              <a:t>TOOLS: </a:t>
            </a:r>
            <a:r>
              <a:rPr lang="en-US" sz="2000" dirty="0">
                <a:solidFill>
                  <a:schemeClr val="tx1">
                    <a:lumMod val="95000"/>
                    <a:lumOff val="5000"/>
                  </a:schemeClr>
                </a:solidFill>
                <a:latin typeface="Arial" panose="020B0604020202020204" pitchFamily="34" charset="0"/>
                <a:cs typeface="Arial" panose="020B0604020202020204" pitchFamily="34" charset="0"/>
              </a:rPr>
              <a:t>Microsoft Excel and Microsoft Power BI</a:t>
            </a:r>
            <a:endParaRPr lang="en-US" sz="2000" b="1" dirty="0">
              <a:solidFill>
                <a:schemeClr val="tx1">
                  <a:lumMod val="95000"/>
                  <a:lumOff val="5000"/>
                </a:schemeClr>
              </a:solidFill>
              <a:latin typeface="Arial" panose="020B0604020202020204" pitchFamily="34" charset="0"/>
              <a:cs typeface="Arial" panose="020B0604020202020204" pitchFamily="34" charset="0"/>
            </a:endParaRPr>
          </a:p>
          <a:p>
            <a:endParaRPr lang="en-US" sz="2000" dirty="0">
              <a:solidFill>
                <a:schemeClr val="tx1">
                  <a:lumMod val="95000"/>
                  <a:lumOff val="5000"/>
                </a:schemeClr>
              </a:solidFill>
              <a:latin typeface="Arial" panose="020B0604020202020204" pitchFamily="34" charset="0"/>
              <a:cs typeface="Arial" panose="020B0604020202020204" pitchFamily="34" charset="0"/>
            </a:endParaRPr>
          </a:p>
          <a:p>
            <a:r>
              <a:rPr lang="en-US" sz="2000" b="1" dirty="0">
                <a:solidFill>
                  <a:schemeClr val="tx1">
                    <a:lumMod val="95000"/>
                    <a:lumOff val="5000"/>
                  </a:schemeClr>
                </a:solidFill>
                <a:latin typeface="Arial" panose="020B0604020202020204" pitchFamily="34" charset="0"/>
                <a:cs typeface="Arial" panose="020B0604020202020204" pitchFamily="34" charset="0"/>
              </a:rPr>
              <a:t>DATA CLEANING</a:t>
            </a:r>
            <a:r>
              <a:rPr lang="en-US" sz="2000" dirty="0">
                <a:solidFill>
                  <a:schemeClr val="tx1">
                    <a:lumMod val="95000"/>
                    <a:lumOff val="5000"/>
                  </a:schemeClr>
                </a:solidFill>
                <a:latin typeface="Arial" panose="020B0604020202020204" pitchFamily="34" charset="0"/>
                <a:cs typeface="Arial" panose="020B0604020202020204" pitchFamily="34" charset="0"/>
              </a:rPr>
              <a:t>: Auto fitting, data types, find and replace, cell formatting, renamed columns, merge query, and creating columns</a:t>
            </a:r>
          </a:p>
        </p:txBody>
      </p:sp>
    </p:spTree>
    <p:extLst>
      <p:ext uri="{BB962C8B-B14F-4D97-AF65-F5344CB8AC3E}">
        <p14:creationId xmlns:p14="http://schemas.microsoft.com/office/powerpoint/2010/main" val="7915395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90F1DCE-39F4-47F3-B731-143EFFCC92BF}"/>
              </a:ext>
            </a:extLst>
          </p:cNvPr>
          <p:cNvSpPr txBox="1"/>
          <p:nvPr/>
        </p:nvSpPr>
        <p:spPr>
          <a:xfrm>
            <a:off x="2743201" y="412844"/>
            <a:ext cx="3548418" cy="400110"/>
          </a:xfrm>
          <a:prstGeom prst="rect">
            <a:avLst/>
          </a:prstGeom>
          <a:noFill/>
        </p:spPr>
        <p:txBody>
          <a:bodyPr wrap="square" rtlCol="0">
            <a:spAutoFit/>
          </a:bodyPr>
          <a:lstStyle/>
          <a:p>
            <a:pPr algn="ctr"/>
            <a:r>
              <a:rPr lang="en-US" sz="2000" b="1" dirty="0">
                <a:solidFill>
                  <a:schemeClr val="accent4">
                    <a:lumMod val="75000"/>
                  </a:schemeClr>
                </a:solidFill>
                <a:latin typeface="Arial" panose="020B0604020202020204" pitchFamily="34" charset="0"/>
                <a:cs typeface="Arial" panose="020B0604020202020204" pitchFamily="34" charset="0"/>
              </a:rPr>
              <a:t>DASHBOARD OVERVIEW</a:t>
            </a:r>
          </a:p>
        </p:txBody>
      </p:sp>
      <p:pic>
        <p:nvPicPr>
          <p:cNvPr id="5" name="Picture 4">
            <a:extLst>
              <a:ext uri="{FF2B5EF4-FFF2-40B4-BE49-F238E27FC236}">
                <a16:creationId xmlns:a16="http://schemas.microsoft.com/office/drawing/2014/main" id="{C7A80EE6-C8C3-4184-8714-9F7E42C424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5293" y="1009312"/>
            <a:ext cx="8583223" cy="5435844"/>
          </a:xfrm>
          <a:prstGeom prst="rect">
            <a:avLst/>
          </a:prstGeom>
        </p:spPr>
      </p:pic>
    </p:spTree>
    <p:extLst>
      <p:ext uri="{BB962C8B-B14F-4D97-AF65-F5344CB8AC3E}">
        <p14:creationId xmlns:p14="http://schemas.microsoft.com/office/powerpoint/2010/main" val="25745621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8D03777-4F62-49BE-B669-39A34CDE8156}"/>
              </a:ext>
            </a:extLst>
          </p:cNvPr>
          <p:cNvSpPr txBox="1"/>
          <p:nvPr/>
        </p:nvSpPr>
        <p:spPr>
          <a:xfrm>
            <a:off x="2264807" y="327860"/>
            <a:ext cx="5554639" cy="461665"/>
          </a:xfrm>
          <a:prstGeom prst="rect">
            <a:avLst/>
          </a:prstGeom>
          <a:noFill/>
        </p:spPr>
        <p:txBody>
          <a:bodyPr wrap="square" rtlCol="0">
            <a:spAutoFit/>
          </a:bodyPr>
          <a:lstStyle/>
          <a:p>
            <a:pPr algn="ctr"/>
            <a:r>
              <a:rPr lang="en-US" sz="2400" b="1" dirty="0">
                <a:solidFill>
                  <a:schemeClr val="accent4">
                    <a:lumMod val="75000"/>
                  </a:schemeClr>
                </a:solidFill>
              </a:rPr>
              <a:t>ADMISSION STATUS FOR 7 YEARS</a:t>
            </a:r>
          </a:p>
        </p:txBody>
      </p:sp>
      <p:sp>
        <p:nvSpPr>
          <p:cNvPr id="9" name="TextBox 8">
            <a:extLst>
              <a:ext uri="{FF2B5EF4-FFF2-40B4-BE49-F238E27FC236}">
                <a16:creationId xmlns:a16="http://schemas.microsoft.com/office/drawing/2014/main" id="{BF85B4D5-36AC-4BA8-91DB-6F203A631764}"/>
              </a:ext>
            </a:extLst>
          </p:cNvPr>
          <p:cNvSpPr txBox="1"/>
          <p:nvPr/>
        </p:nvSpPr>
        <p:spPr>
          <a:xfrm>
            <a:off x="878305" y="3852184"/>
            <a:ext cx="7788065" cy="1938992"/>
          </a:xfrm>
          <a:prstGeom prst="rect">
            <a:avLst/>
          </a:prstGeom>
          <a:noFill/>
        </p:spPr>
        <p:txBody>
          <a:bodyPr wrap="square" rtlCol="0">
            <a:spAutoFit/>
          </a:bodyPr>
          <a:lstStyle/>
          <a:p>
            <a:pPr algn="ctr"/>
            <a:r>
              <a:rPr lang="en-US" sz="2400" dirty="0"/>
              <a:t>The total number of new students enrolled in </a:t>
            </a:r>
            <a:r>
              <a:rPr lang="en-US" sz="2400" dirty="0" err="1"/>
              <a:t>yabatech</a:t>
            </a:r>
            <a:r>
              <a:rPr lang="en-US" sz="2400" dirty="0"/>
              <a:t> between 2017-2023.</a:t>
            </a:r>
          </a:p>
          <a:p>
            <a:pPr algn="ctr"/>
            <a:r>
              <a:rPr lang="en-US" sz="2400" dirty="0"/>
              <a:t>It shows the institution’s attractiveness and ability to recruit students.</a:t>
            </a:r>
          </a:p>
          <a:p>
            <a:pPr algn="ctr"/>
            <a:endParaRPr lang="en-US" sz="2400" dirty="0"/>
          </a:p>
        </p:txBody>
      </p:sp>
      <p:pic>
        <p:nvPicPr>
          <p:cNvPr id="3" name="Picture 2">
            <a:extLst>
              <a:ext uri="{FF2B5EF4-FFF2-40B4-BE49-F238E27FC236}">
                <a16:creationId xmlns:a16="http://schemas.microsoft.com/office/drawing/2014/main" id="{B73C05ED-AB68-4E2A-9868-A88AFB575F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0546" y="1212709"/>
            <a:ext cx="5116489" cy="2216291"/>
          </a:xfrm>
          <a:prstGeom prst="rect">
            <a:avLst/>
          </a:prstGeom>
        </p:spPr>
      </p:pic>
    </p:spTree>
    <p:extLst>
      <p:ext uri="{BB962C8B-B14F-4D97-AF65-F5344CB8AC3E}">
        <p14:creationId xmlns:p14="http://schemas.microsoft.com/office/powerpoint/2010/main" val="295527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3811A13-8B44-491E-8C98-857FF4BF6B26}"/>
              </a:ext>
            </a:extLst>
          </p:cNvPr>
          <p:cNvSpPr txBox="1"/>
          <p:nvPr/>
        </p:nvSpPr>
        <p:spPr>
          <a:xfrm>
            <a:off x="2008827" y="16283"/>
            <a:ext cx="5554639" cy="461665"/>
          </a:xfrm>
          <a:prstGeom prst="rect">
            <a:avLst/>
          </a:prstGeom>
          <a:noFill/>
        </p:spPr>
        <p:txBody>
          <a:bodyPr wrap="square" rtlCol="0">
            <a:spAutoFit/>
          </a:bodyPr>
          <a:lstStyle/>
          <a:p>
            <a:pPr algn="ctr"/>
            <a:r>
              <a:rPr lang="en-US" sz="2400" b="1" dirty="0">
                <a:solidFill>
                  <a:schemeClr val="accent4">
                    <a:lumMod val="75000"/>
                  </a:schemeClr>
                </a:solidFill>
              </a:rPr>
              <a:t>ADMISSION TRENDS ANALYSIS</a:t>
            </a:r>
          </a:p>
        </p:txBody>
      </p:sp>
      <p:pic>
        <p:nvPicPr>
          <p:cNvPr id="6" name="Picture 5">
            <a:extLst>
              <a:ext uri="{FF2B5EF4-FFF2-40B4-BE49-F238E27FC236}">
                <a16:creationId xmlns:a16="http://schemas.microsoft.com/office/drawing/2014/main" id="{3CFD695C-F477-4AF8-B665-97F9DDB5C5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5835" y="406248"/>
            <a:ext cx="9291918" cy="2173658"/>
          </a:xfrm>
          <a:prstGeom prst="rect">
            <a:avLst/>
          </a:prstGeom>
        </p:spPr>
      </p:pic>
      <p:sp>
        <p:nvSpPr>
          <p:cNvPr id="7" name="TextBox 6">
            <a:extLst>
              <a:ext uri="{FF2B5EF4-FFF2-40B4-BE49-F238E27FC236}">
                <a16:creationId xmlns:a16="http://schemas.microsoft.com/office/drawing/2014/main" id="{B27A45A2-3693-4987-894C-153775E7F550}"/>
              </a:ext>
            </a:extLst>
          </p:cNvPr>
          <p:cNvSpPr txBox="1"/>
          <p:nvPr/>
        </p:nvSpPr>
        <p:spPr>
          <a:xfrm>
            <a:off x="749666" y="2579906"/>
            <a:ext cx="8072959" cy="4278094"/>
          </a:xfrm>
          <a:prstGeom prst="rect">
            <a:avLst/>
          </a:prstGeom>
          <a:noFill/>
        </p:spPr>
        <p:txBody>
          <a:bodyPr wrap="square">
            <a:spAutoFit/>
          </a:bodyPr>
          <a:lstStyle/>
          <a:p>
            <a:pPr algn="ctr"/>
            <a:r>
              <a:rPr lang="en-US" sz="1900" dirty="0"/>
              <a:t>It tracks how the students enrollment number changed each year.</a:t>
            </a:r>
          </a:p>
          <a:p>
            <a:pPr algn="ctr"/>
            <a:r>
              <a:rPr lang="en-US" sz="1900" dirty="0"/>
              <a:t>A peak in</a:t>
            </a:r>
            <a:r>
              <a:rPr lang="en-US" sz="1900" dirty="0">
                <a:solidFill>
                  <a:srgbClr val="FF0000"/>
                </a:solidFill>
              </a:rPr>
              <a:t> 2020</a:t>
            </a:r>
            <a:r>
              <a:rPr lang="en-US" sz="1900" dirty="0"/>
              <a:t>, According to </a:t>
            </a:r>
            <a:r>
              <a:rPr lang="en-US" sz="1900" dirty="0">
                <a:solidFill>
                  <a:srgbClr val="0070C0"/>
                </a:solidFill>
              </a:rPr>
              <a:t>vanguardngr.com</a:t>
            </a:r>
            <a:r>
              <a:rPr lang="en-US" sz="1900" dirty="0"/>
              <a:t>.</a:t>
            </a:r>
            <a:r>
              <a:rPr lang="en-US" sz="1900" dirty="0">
                <a:solidFill>
                  <a:srgbClr val="FF0000"/>
                </a:solidFill>
              </a:rPr>
              <a:t> </a:t>
            </a:r>
            <a:r>
              <a:rPr lang="en-US" sz="1900" dirty="0"/>
              <a:t>jamb reported that over </a:t>
            </a:r>
            <a:r>
              <a:rPr lang="en-US" sz="1900" dirty="0">
                <a:solidFill>
                  <a:srgbClr val="FF0000"/>
                </a:solidFill>
              </a:rPr>
              <a:t>1.9 million </a:t>
            </a:r>
            <a:r>
              <a:rPr lang="en-US" sz="1900" dirty="0"/>
              <a:t>candidates registered to write the 2020 UTME and over </a:t>
            </a:r>
            <a:r>
              <a:rPr lang="en-US" sz="1900" dirty="0">
                <a:solidFill>
                  <a:srgbClr val="FF0000"/>
                </a:solidFill>
              </a:rPr>
              <a:t>1.3 million </a:t>
            </a:r>
            <a:r>
              <a:rPr lang="en-US" sz="1900" dirty="0"/>
              <a:t>candidates scored above 120. It was the highest in jamb history. This was made known by Dr </a:t>
            </a:r>
            <a:r>
              <a:rPr lang="en-US" sz="1900" dirty="0" err="1"/>
              <a:t>fabian</a:t>
            </a:r>
            <a:r>
              <a:rPr lang="en-US" sz="1900" dirty="0"/>
              <a:t> Benjamin, the board’s head of media and information, more high performing candidates in 2020 translated to broader eligibility and enabling institutions including </a:t>
            </a:r>
            <a:r>
              <a:rPr lang="en-US" sz="1900" dirty="0" err="1"/>
              <a:t>Yabatech</a:t>
            </a:r>
            <a:r>
              <a:rPr lang="en-US" sz="1900" dirty="0"/>
              <a:t> to admit more students.</a:t>
            </a:r>
          </a:p>
          <a:p>
            <a:pPr algn="ctr"/>
            <a:endParaRPr lang="en-US" sz="1900" dirty="0"/>
          </a:p>
          <a:p>
            <a:pPr algn="ctr"/>
            <a:r>
              <a:rPr lang="en-US" sz="1900" dirty="0"/>
              <a:t>Followed by a sharp drop in </a:t>
            </a:r>
            <a:r>
              <a:rPr lang="en-US" sz="1900" dirty="0">
                <a:solidFill>
                  <a:srgbClr val="FF0000"/>
                </a:solidFill>
              </a:rPr>
              <a:t>2021</a:t>
            </a:r>
            <a:r>
              <a:rPr lang="en-US" sz="1900" dirty="0"/>
              <a:t>,</a:t>
            </a:r>
            <a:r>
              <a:rPr lang="en-US" sz="1900" dirty="0">
                <a:solidFill>
                  <a:srgbClr val="FF0000"/>
                </a:solidFill>
              </a:rPr>
              <a:t> </a:t>
            </a:r>
            <a:r>
              <a:rPr lang="en-US" sz="1900" dirty="0"/>
              <a:t>Decline in high UTME scorers the number of candidates scoring above 180 and 189 marks were 90,688. This drastic decline had a ripple effects on admission rates and institutions including </a:t>
            </a:r>
            <a:r>
              <a:rPr lang="en-US" sz="1900" dirty="0" err="1"/>
              <a:t>Yabatech</a:t>
            </a:r>
            <a:r>
              <a:rPr lang="en-US" sz="1900" dirty="0"/>
              <a:t> were affected.</a:t>
            </a:r>
          </a:p>
          <a:p>
            <a:pPr algn="ctr"/>
            <a:endParaRPr lang="en-US" sz="2000" dirty="0"/>
          </a:p>
        </p:txBody>
      </p:sp>
    </p:spTree>
    <p:extLst>
      <p:ext uri="{BB962C8B-B14F-4D97-AF65-F5344CB8AC3E}">
        <p14:creationId xmlns:p14="http://schemas.microsoft.com/office/powerpoint/2010/main" val="15010152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8B88E25-546E-484C-B86B-1E0B07349FBF}"/>
              </a:ext>
            </a:extLst>
          </p:cNvPr>
          <p:cNvSpPr txBox="1"/>
          <p:nvPr/>
        </p:nvSpPr>
        <p:spPr>
          <a:xfrm>
            <a:off x="2183639" y="672826"/>
            <a:ext cx="5554639" cy="461665"/>
          </a:xfrm>
          <a:prstGeom prst="rect">
            <a:avLst/>
          </a:prstGeom>
          <a:noFill/>
        </p:spPr>
        <p:txBody>
          <a:bodyPr wrap="square" rtlCol="0">
            <a:spAutoFit/>
          </a:bodyPr>
          <a:lstStyle/>
          <a:p>
            <a:pPr algn="ctr"/>
            <a:r>
              <a:rPr lang="en-US" sz="2400" b="1" dirty="0">
                <a:solidFill>
                  <a:schemeClr val="accent4">
                    <a:lumMod val="75000"/>
                  </a:schemeClr>
                </a:solidFill>
              </a:rPr>
              <a:t>GRADUATION STATUS FOR 7 YEARS</a:t>
            </a:r>
          </a:p>
        </p:txBody>
      </p:sp>
      <p:sp>
        <p:nvSpPr>
          <p:cNvPr id="8" name="TextBox 7">
            <a:extLst>
              <a:ext uri="{FF2B5EF4-FFF2-40B4-BE49-F238E27FC236}">
                <a16:creationId xmlns:a16="http://schemas.microsoft.com/office/drawing/2014/main" id="{ACBB2D58-6B70-4DF6-8A73-06048BCC5454}"/>
              </a:ext>
            </a:extLst>
          </p:cNvPr>
          <p:cNvSpPr txBox="1"/>
          <p:nvPr/>
        </p:nvSpPr>
        <p:spPr>
          <a:xfrm>
            <a:off x="1275907" y="3844833"/>
            <a:ext cx="7578775" cy="2554545"/>
          </a:xfrm>
          <a:prstGeom prst="rect">
            <a:avLst/>
          </a:prstGeom>
          <a:noFill/>
        </p:spPr>
        <p:txBody>
          <a:bodyPr wrap="square">
            <a:spAutoFit/>
          </a:bodyPr>
          <a:lstStyle/>
          <a:p>
            <a:pPr algn="ctr"/>
            <a:r>
              <a:rPr lang="en-US" sz="2000" dirty="0"/>
              <a:t>Total number of students who completed their programs and officially graduated during the 2017-2023 period.</a:t>
            </a:r>
          </a:p>
          <a:p>
            <a:pPr algn="ctr"/>
            <a:endParaRPr lang="en-US" sz="2000" dirty="0"/>
          </a:p>
          <a:p>
            <a:pPr algn="ctr"/>
            <a:r>
              <a:rPr lang="en-US" sz="2000" dirty="0"/>
              <a:t>It reflects the institution’s success in guiding students from admission to completion.</a:t>
            </a:r>
          </a:p>
          <a:p>
            <a:pPr algn="ctr"/>
            <a:endParaRPr lang="en-US" sz="2000" dirty="0"/>
          </a:p>
          <a:p>
            <a:pPr algn="ctr"/>
            <a:r>
              <a:rPr lang="en-US" sz="2000" dirty="0"/>
              <a:t>Over 10k students did not graduate due to withdrawal, financial issues, personal issues, and academic failure</a:t>
            </a:r>
          </a:p>
        </p:txBody>
      </p:sp>
      <p:pic>
        <p:nvPicPr>
          <p:cNvPr id="3" name="Picture 2">
            <a:extLst>
              <a:ext uri="{FF2B5EF4-FFF2-40B4-BE49-F238E27FC236}">
                <a16:creationId xmlns:a16="http://schemas.microsoft.com/office/drawing/2014/main" id="{3BCCE2ED-70A0-4909-BDF5-7718376BF1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6395" y="1351003"/>
            <a:ext cx="4429125" cy="2277318"/>
          </a:xfrm>
          <a:prstGeom prst="rect">
            <a:avLst/>
          </a:prstGeom>
        </p:spPr>
      </p:pic>
    </p:spTree>
    <p:extLst>
      <p:ext uri="{BB962C8B-B14F-4D97-AF65-F5344CB8AC3E}">
        <p14:creationId xmlns:p14="http://schemas.microsoft.com/office/powerpoint/2010/main" val="2693777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CA09510-2AAC-4FB2-9D2F-EEF44A0A7A8A}"/>
              </a:ext>
            </a:extLst>
          </p:cNvPr>
          <p:cNvSpPr txBox="1"/>
          <p:nvPr/>
        </p:nvSpPr>
        <p:spPr>
          <a:xfrm>
            <a:off x="2130476" y="183728"/>
            <a:ext cx="5554639" cy="461665"/>
          </a:xfrm>
          <a:prstGeom prst="rect">
            <a:avLst/>
          </a:prstGeom>
          <a:noFill/>
        </p:spPr>
        <p:txBody>
          <a:bodyPr wrap="square" rtlCol="0">
            <a:spAutoFit/>
          </a:bodyPr>
          <a:lstStyle/>
          <a:p>
            <a:pPr algn="ctr"/>
            <a:r>
              <a:rPr lang="en-US" sz="2400" b="1" dirty="0">
                <a:solidFill>
                  <a:schemeClr val="accent4">
                    <a:lumMod val="75000"/>
                  </a:schemeClr>
                </a:solidFill>
              </a:rPr>
              <a:t>GRADUATION RATES OVERVIEW</a:t>
            </a:r>
          </a:p>
        </p:txBody>
      </p:sp>
      <p:sp>
        <p:nvSpPr>
          <p:cNvPr id="9" name="TextBox 8">
            <a:extLst>
              <a:ext uri="{FF2B5EF4-FFF2-40B4-BE49-F238E27FC236}">
                <a16:creationId xmlns:a16="http://schemas.microsoft.com/office/drawing/2014/main" id="{5E0F04D9-9E95-455A-822E-0C643B078DDF}"/>
              </a:ext>
            </a:extLst>
          </p:cNvPr>
          <p:cNvSpPr txBox="1"/>
          <p:nvPr/>
        </p:nvSpPr>
        <p:spPr>
          <a:xfrm>
            <a:off x="1161755" y="3019647"/>
            <a:ext cx="7492079" cy="3170099"/>
          </a:xfrm>
          <a:prstGeom prst="rect">
            <a:avLst/>
          </a:prstGeom>
          <a:noFill/>
        </p:spPr>
        <p:txBody>
          <a:bodyPr wrap="square">
            <a:spAutoFit/>
          </a:bodyPr>
          <a:lstStyle/>
          <a:p>
            <a:pPr algn="ctr"/>
            <a:r>
              <a:rPr lang="en-US" sz="2000" dirty="0"/>
              <a:t>The graduation rate shows the percentage of students who successfully completed their program out of all who enrolled in each department</a:t>
            </a:r>
          </a:p>
          <a:p>
            <a:pPr algn="ctr"/>
            <a:r>
              <a:rPr lang="en-US" sz="2000" dirty="0"/>
              <a:t>ND Electrical/electronics has the highest rates just over half of students admitted in the department graduated within the study period due to strong academy system and teaching methods.</a:t>
            </a:r>
          </a:p>
          <a:p>
            <a:pPr algn="ctr"/>
            <a:r>
              <a:rPr lang="en-US" sz="2000" dirty="0"/>
              <a:t>HND computer science has the lowest rate, less than half of the students completed their program. Reasons are due to students dropping out, difficult courses and workload.</a:t>
            </a:r>
          </a:p>
        </p:txBody>
      </p:sp>
      <p:pic>
        <p:nvPicPr>
          <p:cNvPr id="5" name="Picture 4">
            <a:extLst>
              <a:ext uri="{FF2B5EF4-FFF2-40B4-BE49-F238E27FC236}">
                <a16:creationId xmlns:a16="http://schemas.microsoft.com/office/drawing/2014/main" id="{368B5C7B-A8F7-4339-96C3-14998C8B23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424" y="719821"/>
            <a:ext cx="8845980" cy="2225398"/>
          </a:xfrm>
          <a:prstGeom prst="rect">
            <a:avLst/>
          </a:prstGeom>
        </p:spPr>
      </p:pic>
    </p:spTree>
    <p:extLst>
      <p:ext uri="{BB962C8B-B14F-4D97-AF65-F5344CB8AC3E}">
        <p14:creationId xmlns:p14="http://schemas.microsoft.com/office/powerpoint/2010/main" val="707270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454121C-D668-4D0D-85EA-331EDDABD2F1}"/>
              </a:ext>
            </a:extLst>
          </p:cNvPr>
          <p:cNvSpPr txBox="1"/>
          <p:nvPr/>
        </p:nvSpPr>
        <p:spPr>
          <a:xfrm>
            <a:off x="1873312" y="694092"/>
            <a:ext cx="6175292" cy="461665"/>
          </a:xfrm>
          <a:prstGeom prst="rect">
            <a:avLst/>
          </a:prstGeom>
          <a:noFill/>
        </p:spPr>
        <p:txBody>
          <a:bodyPr wrap="square" rtlCol="0">
            <a:spAutoFit/>
          </a:bodyPr>
          <a:lstStyle/>
          <a:p>
            <a:pPr algn="ctr"/>
            <a:r>
              <a:rPr lang="en-US" sz="2400" b="1" dirty="0">
                <a:solidFill>
                  <a:schemeClr val="accent4">
                    <a:lumMod val="75000"/>
                  </a:schemeClr>
                </a:solidFill>
              </a:rPr>
              <a:t>OVERALL GRADUATION RATES </a:t>
            </a:r>
          </a:p>
        </p:txBody>
      </p:sp>
      <p:pic>
        <p:nvPicPr>
          <p:cNvPr id="6" name="Picture 5">
            <a:extLst>
              <a:ext uri="{FF2B5EF4-FFF2-40B4-BE49-F238E27FC236}">
                <a16:creationId xmlns:a16="http://schemas.microsoft.com/office/drawing/2014/main" id="{97343519-DACB-44EF-9D9E-62903ECD1F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4572" y="1552074"/>
            <a:ext cx="4192772" cy="1956669"/>
          </a:xfrm>
          <a:prstGeom prst="rect">
            <a:avLst/>
          </a:prstGeom>
        </p:spPr>
      </p:pic>
      <p:sp>
        <p:nvSpPr>
          <p:cNvPr id="7" name="TextBox 6">
            <a:extLst>
              <a:ext uri="{FF2B5EF4-FFF2-40B4-BE49-F238E27FC236}">
                <a16:creationId xmlns:a16="http://schemas.microsoft.com/office/drawing/2014/main" id="{C1ADF652-6263-4AAE-BDA6-3E087A37BD44}"/>
              </a:ext>
            </a:extLst>
          </p:cNvPr>
          <p:cNvSpPr txBox="1"/>
          <p:nvPr/>
        </p:nvSpPr>
        <p:spPr>
          <a:xfrm>
            <a:off x="1873312" y="3508743"/>
            <a:ext cx="6645204" cy="2246769"/>
          </a:xfrm>
          <a:prstGeom prst="rect">
            <a:avLst/>
          </a:prstGeom>
          <a:noFill/>
        </p:spPr>
        <p:txBody>
          <a:bodyPr wrap="square">
            <a:spAutoFit/>
          </a:bodyPr>
          <a:lstStyle/>
          <a:p>
            <a:pPr algn="ctr"/>
            <a:r>
              <a:rPr lang="en-US" sz="2000" dirty="0"/>
              <a:t>The percentage of students who successfully graduated out of those admitted in the same period</a:t>
            </a:r>
          </a:p>
          <a:p>
            <a:pPr algn="ctr"/>
            <a:r>
              <a:rPr lang="en-US" sz="2000" dirty="0"/>
              <a:t>Calculated as graduated students/admitted students *100</a:t>
            </a:r>
          </a:p>
          <a:p>
            <a:pPr algn="ctr"/>
            <a:r>
              <a:rPr lang="en-US" sz="2000" dirty="0"/>
              <a:t>49% rates means over half of the students did not graduate within the period, due to withdrawal, financial issues, personal issues, and academic failure.</a:t>
            </a:r>
          </a:p>
        </p:txBody>
      </p:sp>
    </p:spTree>
    <p:extLst>
      <p:ext uri="{BB962C8B-B14F-4D97-AF65-F5344CB8AC3E}">
        <p14:creationId xmlns:p14="http://schemas.microsoft.com/office/powerpoint/2010/main" val="30094285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8B88E25-546E-484C-B86B-1E0B07349FBF}"/>
              </a:ext>
            </a:extLst>
          </p:cNvPr>
          <p:cNvSpPr txBox="1"/>
          <p:nvPr/>
        </p:nvSpPr>
        <p:spPr>
          <a:xfrm>
            <a:off x="2183638" y="386300"/>
            <a:ext cx="5554639" cy="461665"/>
          </a:xfrm>
          <a:prstGeom prst="rect">
            <a:avLst/>
          </a:prstGeom>
          <a:noFill/>
        </p:spPr>
        <p:txBody>
          <a:bodyPr wrap="square" rtlCol="0">
            <a:spAutoFit/>
          </a:bodyPr>
          <a:lstStyle/>
          <a:p>
            <a:pPr algn="ctr"/>
            <a:r>
              <a:rPr lang="en-US" sz="2400" b="1" dirty="0">
                <a:solidFill>
                  <a:schemeClr val="accent4">
                    <a:lumMod val="75000"/>
                  </a:schemeClr>
                </a:solidFill>
              </a:rPr>
              <a:t>CGPA STATUS FOR 7 YEARS</a:t>
            </a:r>
          </a:p>
        </p:txBody>
      </p:sp>
      <p:sp>
        <p:nvSpPr>
          <p:cNvPr id="8" name="TextBox 7">
            <a:extLst>
              <a:ext uri="{FF2B5EF4-FFF2-40B4-BE49-F238E27FC236}">
                <a16:creationId xmlns:a16="http://schemas.microsoft.com/office/drawing/2014/main" id="{ACBB2D58-6B70-4DF6-8A73-06048BCC5454}"/>
              </a:ext>
            </a:extLst>
          </p:cNvPr>
          <p:cNvSpPr txBox="1"/>
          <p:nvPr/>
        </p:nvSpPr>
        <p:spPr>
          <a:xfrm>
            <a:off x="2183638" y="2880743"/>
            <a:ext cx="6645204" cy="3477875"/>
          </a:xfrm>
          <a:prstGeom prst="rect">
            <a:avLst/>
          </a:prstGeom>
          <a:noFill/>
        </p:spPr>
        <p:txBody>
          <a:bodyPr wrap="square">
            <a:spAutoFit/>
          </a:bodyPr>
          <a:lstStyle/>
          <a:p>
            <a:pPr algn="ctr"/>
            <a:r>
              <a:rPr lang="en-US" sz="2000" dirty="0"/>
              <a:t>The average CGPA of all students across the 7 years, graded on a 4.0 scale in the institution education system</a:t>
            </a:r>
          </a:p>
          <a:p>
            <a:pPr algn="ctr"/>
            <a:r>
              <a:rPr lang="en-US" sz="2000" dirty="0"/>
              <a:t>It indicates the general academic performance level of students.</a:t>
            </a:r>
          </a:p>
          <a:p>
            <a:r>
              <a:rPr lang="en-US" sz="2000" dirty="0"/>
              <a:t>3.50-4.00 – Distinction ( 2,461 students )</a:t>
            </a:r>
            <a:endParaRPr lang="en-US" sz="2000" b="1" dirty="0"/>
          </a:p>
          <a:p>
            <a:r>
              <a:rPr lang="en-US" sz="2000" dirty="0"/>
              <a:t>3.00-3.49 – Upper credit ( 2,517 students)</a:t>
            </a:r>
          </a:p>
          <a:p>
            <a:r>
              <a:rPr lang="en-US" sz="2000" dirty="0"/>
              <a:t>2.50-2.99 – Lower credit ( 2,427 students)</a:t>
            </a:r>
          </a:p>
          <a:p>
            <a:r>
              <a:rPr lang="en-US" sz="2000" dirty="0"/>
              <a:t>2.00-2.49 – Pass ( 2,594 students)</a:t>
            </a:r>
          </a:p>
          <a:p>
            <a:r>
              <a:rPr lang="en-US" sz="2000" dirty="0"/>
              <a:t>&lt;2.00 – Fail (</a:t>
            </a:r>
            <a:r>
              <a:rPr lang="en-US" sz="2000" dirty="0">
                <a:solidFill>
                  <a:srgbClr val="FF0000"/>
                </a:solidFill>
              </a:rPr>
              <a:t>10,001</a:t>
            </a:r>
            <a:r>
              <a:rPr lang="en-US" sz="2000" dirty="0"/>
              <a:t> students ).</a:t>
            </a:r>
          </a:p>
          <a:p>
            <a:pPr algn="ctr"/>
            <a:endParaRPr lang="en-US" sz="2000" dirty="0"/>
          </a:p>
        </p:txBody>
      </p:sp>
      <p:pic>
        <p:nvPicPr>
          <p:cNvPr id="4" name="Picture 3">
            <a:extLst>
              <a:ext uri="{FF2B5EF4-FFF2-40B4-BE49-F238E27FC236}">
                <a16:creationId xmlns:a16="http://schemas.microsoft.com/office/drawing/2014/main" id="{E7925BCF-E768-441D-B4A5-16EF339950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5073" y="1025413"/>
            <a:ext cx="5043204" cy="1855330"/>
          </a:xfrm>
          <a:prstGeom prst="rect">
            <a:avLst/>
          </a:prstGeom>
        </p:spPr>
      </p:pic>
    </p:spTree>
    <p:extLst>
      <p:ext uri="{BB962C8B-B14F-4D97-AF65-F5344CB8AC3E}">
        <p14:creationId xmlns:p14="http://schemas.microsoft.com/office/powerpoint/2010/main" val="23554204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CF5F1E7-0E82-43DF-818B-533EE02ADB22}"/>
              </a:ext>
            </a:extLst>
          </p:cNvPr>
          <p:cNvSpPr txBox="1"/>
          <p:nvPr/>
        </p:nvSpPr>
        <p:spPr>
          <a:xfrm rot="10800000" flipV="1">
            <a:off x="1842437" y="0"/>
            <a:ext cx="5104232" cy="430887"/>
          </a:xfrm>
          <a:prstGeom prst="rect">
            <a:avLst/>
          </a:prstGeom>
          <a:noFill/>
        </p:spPr>
        <p:txBody>
          <a:bodyPr wrap="square" rtlCol="0">
            <a:spAutoFit/>
          </a:bodyPr>
          <a:lstStyle/>
          <a:p>
            <a:pPr algn="ctr"/>
            <a:r>
              <a:rPr lang="en-US" sz="2200" b="1" dirty="0">
                <a:solidFill>
                  <a:schemeClr val="accent4">
                    <a:lumMod val="75000"/>
                  </a:schemeClr>
                </a:solidFill>
              </a:rPr>
              <a:t>RECOMMENDATIONS</a:t>
            </a:r>
          </a:p>
        </p:txBody>
      </p:sp>
      <p:sp>
        <p:nvSpPr>
          <p:cNvPr id="5" name="TextBox 4">
            <a:extLst>
              <a:ext uri="{FF2B5EF4-FFF2-40B4-BE49-F238E27FC236}">
                <a16:creationId xmlns:a16="http://schemas.microsoft.com/office/drawing/2014/main" id="{015725D9-C49E-44EB-A4F1-735CC2FBECA2}"/>
              </a:ext>
            </a:extLst>
          </p:cNvPr>
          <p:cNvSpPr txBox="1"/>
          <p:nvPr/>
        </p:nvSpPr>
        <p:spPr>
          <a:xfrm>
            <a:off x="470243" y="350788"/>
            <a:ext cx="9235440" cy="652864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000" b="1" dirty="0">
                <a:latin typeface="RobotoStatic-Regular"/>
              </a:rPr>
              <a:t>To Enhance admission strategies: </a:t>
            </a:r>
            <a:r>
              <a:rPr lang="en-US" sz="1900" dirty="0">
                <a:latin typeface="RobotoStatic-Regular"/>
              </a:rPr>
              <a:t>S</a:t>
            </a:r>
            <a:r>
              <a:rPr lang="en-US" sz="2000" dirty="0">
                <a:latin typeface="RobotoStatic-Regular"/>
              </a:rPr>
              <a:t>trengthen the institution brand visibility through alumni success stories, highlighting graduates who have excelled in industry or academia, introduce in-demand and market-relevant courses such as data analytics, web design, ai and machine learning, etc. </a:t>
            </a:r>
          </a:p>
          <a:p>
            <a:pPr marL="285750" indent="-285750">
              <a:lnSpc>
                <a:spcPct val="150000"/>
              </a:lnSpc>
              <a:buFont typeface="Arial" panose="020B0604020202020204" pitchFamily="34" charset="0"/>
              <a:buChar char="•"/>
            </a:pPr>
            <a:r>
              <a:rPr lang="en-US" sz="2000" b="1" dirty="0">
                <a:latin typeface="RobotoStatic-Regular"/>
              </a:rPr>
              <a:t>Renovation/Expansion: </a:t>
            </a:r>
            <a:r>
              <a:rPr lang="en-US" sz="2000" dirty="0">
                <a:latin typeface="RobotoStatic-Regular"/>
              </a:rPr>
              <a:t>To sustain </a:t>
            </a:r>
            <a:r>
              <a:rPr lang="en-US" sz="2000" dirty="0" err="1">
                <a:latin typeface="RobotoStatic-Regular"/>
              </a:rPr>
              <a:t>yabatech</a:t>
            </a:r>
            <a:r>
              <a:rPr lang="en-US" sz="2000" dirty="0">
                <a:latin typeface="RobotoStatic-Regular"/>
              </a:rPr>
              <a:t> legacy as a leading institution, immediate investments in renovation and expansion is necessary. Upgrading of lecture halls, laboratories, and hostels. Renovating </a:t>
            </a:r>
            <a:r>
              <a:rPr lang="en-US" sz="2000" dirty="0" err="1">
                <a:latin typeface="RobotoStatic-Regular"/>
              </a:rPr>
              <a:t>yabatech</a:t>
            </a:r>
            <a:r>
              <a:rPr lang="en-US" sz="2000" dirty="0">
                <a:latin typeface="RobotoStatic-Regular"/>
              </a:rPr>
              <a:t> is not just buildings, but creating an environment that improves learning and meets the needs of our growing population.</a:t>
            </a:r>
          </a:p>
          <a:p>
            <a:pPr marL="342900" marR="0" lvl="0" indent="-342900" algn="just">
              <a:lnSpc>
                <a:spcPct val="107000"/>
              </a:lnSpc>
              <a:spcBef>
                <a:spcPts val="0"/>
              </a:spcBef>
              <a:spcAft>
                <a:spcPts val="800"/>
              </a:spcAft>
              <a:buFont typeface="Arial" panose="020B0604020202020204" pitchFamily="34" charset="0"/>
              <a:buChar char="•"/>
              <a:tabLst>
                <a:tab pos="457200" algn="l"/>
              </a:tabLst>
            </a:pPr>
            <a:r>
              <a:rPr lang="en-US" sz="2000" b="1" dirty="0">
                <a:effectLst/>
                <a:latin typeface="RobotoStatic-Regular"/>
                <a:ea typeface="Calibri" panose="020F0502020204030204" pitchFamily="34" charset="0"/>
                <a:cs typeface="Times New Roman" panose="02020603050405020304" pitchFamily="18" charset="0"/>
              </a:rPr>
              <a:t>Boost student retention and graduation rates:</a:t>
            </a:r>
            <a:r>
              <a:rPr lang="en-US" sz="2000" dirty="0">
                <a:effectLst/>
                <a:latin typeface="RobotoStatic-Regular"/>
                <a:ea typeface="Calibri" panose="020F0502020204030204" pitchFamily="34" charset="0"/>
                <a:cs typeface="Times New Roman" panose="02020603050405020304" pitchFamily="18" charset="0"/>
              </a:rPr>
              <a:t> In other to address the challenges of low grad</a:t>
            </a:r>
            <a:r>
              <a:rPr lang="en-US" sz="2000" dirty="0">
                <a:latin typeface="RobotoStatic-Regular"/>
                <a:ea typeface="Calibri" panose="020F0502020204030204" pitchFamily="34" charset="0"/>
                <a:cs typeface="Times New Roman" panose="02020603050405020304" pitchFamily="18" charset="0"/>
              </a:rPr>
              <a:t>uation rates and uneven academic performance, the institution should support students through early intervention and mentorships, enhance teaching effectiveness with modern methods, the college should as well balance lecture timetable by reducing unnecessary daily classes and introducing free periods that allow for self-study, research, and personal developments. </a:t>
            </a:r>
            <a:endParaRPr lang="en-US" sz="2000" dirty="0">
              <a:effectLst/>
              <a:latin typeface="RobotoStatic-Regular"/>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981895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F2A3DE3-DF14-4CE8-A98E-556B8D1E5EE5}"/>
              </a:ext>
            </a:extLst>
          </p:cNvPr>
          <p:cNvSpPr txBox="1"/>
          <p:nvPr/>
        </p:nvSpPr>
        <p:spPr>
          <a:xfrm>
            <a:off x="945709" y="1747246"/>
            <a:ext cx="7383439" cy="646331"/>
          </a:xfrm>
          <a:prstGeom prst="rect">
            <a:avLst/>
          </a:prstGeom>
          <a:noFill/>
        </p:spPr>
        <p:txBody>
          <a:bodyPr wrap="square" rtlCol="0">
            <a:spAutoFit/>
          </a:bodyPr>
          <a:lstStyle/>
          <a:p>
            <a:pPr algn="ctr"/>
            <a:r>
              <a:rPr lang="en-US" sz="3600" b="1" dirty="0">
                <a:solidFill>
                  <a:schemeClr val="accent4">
                    <a:lumMod val="75000"/>
                  </a:schemeClr>
                </a:solidFill>
              </a:rPr>
              <a:t>THANK YOU !!!!</a:t>
            </a:r>
          </a:p>
        </p:txBody>
      </p:sp>
      <p:sp>
        <p:nvSpPr>
          <p:cNvPr id="5" name="TextBox 4">
            <a:extLst>
              <a:ext uri="{FF2B5EF4-FFF2-40B4-BE49-F238E27FC236}">
                <a16:creationId xmlns:a16="http://schemas.microsoft.com/office/drawing/2014/main" id="{D463953E-16BB-4975-838E-B159B1C18674}"/>
              </a:ext>
            </a:extLst>
          </p:cNvPr>
          <p:cNvSpPr txBox="1"/>
          <p:nvPr/>
        </p:nvSpPr>
        <p:spPr>
          <a:xfrm>
            <a:off x="-701748" y="5257208"/>
            <a:ext cx="7868092" cy="461665"/>
          </a:xfrm>
          <a:prstGeom prst="rect">
            <a:avLst/>
          </a:prstGeom>
          <a:noFill/>
        </p:spPr>
        <p:txBody>
          <a:bodyPr wrap="square" rtlCol="0">
            <a:spAutoFit/>
          </a:bodyPr>
          <a:lstStyle/>
          <a:p>
            <a:pPr algn="ctr"/>
            <a:r>
              <a:rPr lang="en-US" sz="2400" b="1" dirty="0"/>
              <a:t>DETAILS: </a:t>
            </a:r>
            <a:r>
              <a:rPr lang="en-US" sz="2400" dirty="0"/>
              <a:t>Data Analytics group</a:t>
            </a:r>
            <a:endParaRPr lang="en-US" sz="2400" dirty="0">
              <a:solidFill>
                <a:schemeClr val="accent3">
                  <a:lumMod val="50000"/>
                </a:schemeClr>
              </a:solidFill>
            </a:endParaRPr>
          </a:p>
        </p:txBody>
      </p:sp>
      <p:sp>
        <p:nvSpPr>
          <p:cNvPr id="7" name="TextBox 6">
            <a:extLst>
              <a:ext uri="{FF2B5EF4-FFF2-40B4-BE49-F238E27FC236}">
                <a16:creationId xmlns:a16="http://schemas.microsoft.com/office/drawing/2014/main" id="{39B976E3-7E37-4D68-B05A-EE2029541123}"/>
              </a:ext>
            </a:extLst>
          </p:cNvPr>
          <p:cNvSpPr txBox="1"/>
          <p:nvPr/>
        </p:nvSpPr>
        <p:spPr>
          <a:xfrm>
            <a:off x="535624" y="4795543"/>
            <a:ext cx="7383439" cy="461665"/>
          </a:xfrm>
          <a:prstGeom prst="rect">
            <a:avLst/>
          </a:prstGeom>
          <a:noFill/>
        </p:spPr>
        <p:txBody>
          <a:bodyPr wrap="square" rtlCol="0">
            <a:spAutoFit/>
          </a:bodyPr>
          <a:lstStyle/>
          <a:p>
            <a:pPr algn="ctr"/>
            <a:r>
              <a:rPr lang="en-US" sz="2400" b="1" dirty="0"/>
              <a:t>QUESTIONS AND FEEDBACKS ARE WELCOME</a:t>
            </a:r>
          </a:p>
        </p:txBody>
      </p:sp>
      <p:sp>
        <p:nvSpPr>
          <p:cNvPr id="6" name="TextBox 5">
            <a:extLst>
              <a:ext uri="{FF2B5EF4-FFF2-40B4-BE49-F238E27FC236}">
                <a16:creationId xmlns:a16="http://schemas.microsoft.com/office/drawing/2014/main" id="{262FE091-616C-41A8-9FAE-A59692431F4D}"/>
              </a:ext>
            </a:extLst>
          </p:cNvPr>
          <p:cNvSpPr txBox="1"/>
          <p:nvPr/>
        </p:nvSpPr>
        <p:spPr>
          <a:xfrm>
            <a:off x="-610052" y="5718873"/>
            <a:ext cx="7776396" cy="461665"/>
          </a:xfrm>
          <a:prstGeom prst="rect">
            <a:avLst/>
          </a:prstGeom>
          <a:noFill/>
        </p:spPr>
        <p:txBody>
          <a:bodyPr wrap="square" rtlCol="0">
            <a:spAutoFit/>
          </a:bodyPr>
          <a:lstStyle/>
          <a:p>
            <a:pPr algn="ctr"/>
            <a:r>
              <a:rPr lang="en-US" sz="2400" b="1" dirty="0"/>
              <a:t>Facilitator: </a:t>
            </a:r>
            <a:r>
              <a:rPr lang="en-US" sz="2400" dirty="0"/>
              <a:t>MR. Israel </a:t>
            </a:r>
            <a:r>
              <a:rPr lang="en-US" sz="2400" dirty="0" err="1"/>
              <a:t>Ogundele</a:t>
            </a:r>
            <a:r>
              <a:rPr lang="en-US" sz="2400" dirty="0"/>
              <a:t> </a:t>
            </a:r>
            <a:endParaRPr lang="en-US" sz="2400" dirty="0">
              <a:solidFill>
                <a:schemeClr val="accent3">
                  <a:lumMod val="50000"/>
                </a:schemeClr>
              </a:solidFill>
            </a:endParaRPr>
          </a:p>
        </p:txBody>
      </p:sp>
    </p:spTree>
    <p:extLst>
      <p:ext uri="{BB962C8B-B14F-4D97-AF65-F5344CB8AC3E}">
        <p14:creationId xmlns:p14="http://schemas.microsoft.com/office/powerpoint/2010/main" val="421773687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3016</TotalTime>
  <Words>795</Words>
  <Application>Microsoft Office PowerPoint</Application>
  <PresentationFormat>Widescreen</PresentationFormat>
  <Paragraphs>62</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RobotoStatic-Regular</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bashir olamilekan</dc:creator>
  <cp:lastModifiedBy>Emmanuel Akinbote</cp:lastModifiedBy>
  <cp:revision>97</cp:revision>
  <dcterms:created xsi:type="dcterms:W3CDTF">2025-08-12T18:35:23Z</dcterms:created>
  <dcterms:modified xsi:type="dcterms:W3CDTF">2026-02-14T14:00:44Z</dcterms:modified>
</cp:coreProperties>
</file>